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109728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109728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731520"/>
            <a:ext cx="9997135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051560"/>
            <a:ext cx="1280160" cy="1280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371600" y="2468880"/>
            <a:ext cx="944849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A52A2A"/>
                </a:solidFill>
                <a:latin typeface="Times New Roman"/>
              </a:defRPr>
            </a:pPr>
            <a:r>
              <a:t>SMART INDIA HACKATHON (SIH) 2026 • OFFICIAL IDEA PRESENTATION</a:t>
            </a:r>
          </a:p>
          <a:p>
            <a:pPr algn="ctr">
              <a:defRPr sz="3600" b="1">
                <a:solidFill>
                  <a:srgbClr val="A52A2A"/>
                </a:solidFill>
                <a:latin typeface="Times New Roman"/>
              </a:defRPr>
            </a:pPr>
            <a:r>
              <a:t>RailSamanvay (रेल समन्वय)</a:t>
            </a:r>
          </a:p>
          <a:p>
            <a:pPr algn="ctr">
              <a:defRPr sz="1400" b="1">
                <a:solidFill>
                  <a:srgbClr val="252525"/>
                </a:solidFill>
                <a:latin typeface="Times New Roman"/>
              </a:defRPr>
            </a:pPr>
            <a:r>
              <a:t>AI-Powered Automatic Block Planning to Maximize Asset Availability for Train Operations on Indian Railways</a:t>
            </a:r>
          </a:p>
          <a:p>
            <a:br/>
            <a:pPr algn="ctr">
              <a:defRPr sz="1200" b="1">
                <a:solidFill>
                  <a:srgbClr val="1E3A8A"/>
                </a:solidFill>
                <a:latin typeface="Times New Roman"/>
              </a:defRPr>
            </a:pPr>
            <a:r>
              <a:t>Problem Statement ID: SIH26027 | Organization: Ministry of Railways, Govt. of India</a:t>
            </a:r>
          </a:p>
          <a:p>
            <a:pPr algn="ctr">
              <a:defRPr sz="1150">
                <a:solidFill>
                  <a:srgbClr val="69625C"/>
                </a:solidFill>
                <a:latin typeface="Times New Roman"/>
              </a:defRPr>
            </a:pPr>
            <a:r>
              <a:t>Corridor: New Delhi – Kanpur High-Density Network (NCR Prayagraj Division, 440 KM)</a:t>
            </a:r>
          </a:p>
          <a:p>
            <a:br/>
            <a:pPr algn="ctr">
              <a:defRPr sz="1300" b="1">
                <a:solidFill>
                  <a:srgbClr val="D4A317"/>
                </a:solidFill>
                <a:latin typeface="Times New Roman"/>
              </a:defRPr>
            </a:pPr>
            <a:r>
              <a:t>Presented by: Team RailSamanvay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"/>
            <a:ext cx="112772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52A2A"/>
                </a:solidFill>
                <a:latin typeface="Times New Roman"/>
              </a:defRPr>
            </a:pPr>
            <a:r>
              <a:t>SMART INDIA HACKATHON 2026 • OFFICIAL IDEA TEMPLATE | SLIDE 2 OF 6</a:t>
            </a:r>
          </a:p>
          <a:p>
            <a:pPr>
              <a:defRPr sz="1900" b="1">
                <a:solidFill>
                  <a:srgbClr val="252525"/>
                </a:solidFill>
                <a:latin typeface="Times New Roman"/>
              </a:defRPr>
            </a:pPr>
            <a:r>
              <a:t>Problem Statement Description &amp; Proposed Solution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7432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Times New Roman"/>
              </a:defRPr>
            </a:pPr>
            <a:r>
              <a:t>Smart India Hackathon 2026 | Problem Statement: SIH26027 | RailSamanvay (रेल समन्वय) | Slide 2 of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52A2A"/>
                </a:solidFill>
                <a:latin typeface="Times New Roman"/>
              </a:defRPr>
            </a:pPr>
            <a:r>
              <a:t>1. The Problem Statement (SIH26027)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• Departmental Silos: </a:t>
            </a:r>
            <a:r>
              <a:rPr>
                <a:solidFill>
                  <a:srgbClr val="69625C"/>
                </a:solidFill>
              </a:rPr>
              <a:t>Civil (TMS), Electrical (TDMS), and Signal (SMMS) function in isolation, requesting maintenance blocks on conflicting timelines with zero joint visibility.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• Piecemeal Line Closures: </a:t>
            </a:r>
            <a:r>
              <a:rPr>
                <a:solidFill>
                  <a:srgbClr val="69625C"/>
                </a:solidFill>
              </a:rPr>
              <a:t>Granting separate 1.5 to 2-hour blocks per department keeps the track blocked for 5.5+ hours daily on critical high-density corridors.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• Cascading Train Congestion: </a:t>
            </a:r>
            <a:r>
              <a:rPr>
                <a:solidFill>
                  <a:srgbClr val="69625C"/>
                </a:solidFill>
              </a:rPr>
              <a:t>Passenger trains (Vande Bharat, Rajdhani, Shatabdi) are regulated at signals, snowballing delays and lowering network throughput.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• Reactive Emergency Chaos: </a:t>
            </a:r>
            <a:r>
              <a:rPr>
                <a:solidFill>
                  <a:srgbClr val="69625C"/>
                </a:solidFill>
              </a:rPr>
              <a:t>Emergency defects (e.g., rail fractures) lack automated replanning tools, forcing section controllers to manually scramble.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F684F"/>
                </a:solidFill>
                <a:latin typeface="Times New Roman"/>
              </a:defRPr>
            </a:pPr>
            <a:r>
              <a:t>2. The RailSamanvay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✔ AI Shadow Scheduling: </a:t>
            </a:r>
            <a:r>
              <a:rPr>
                <a:solidFill>
                  <a:srgbClr val="69625C"/>
                </a:solidFill>
              </a:rPr>
              <a:t>Scans corridor timetables using Constraint Programming to detect natural idle shadow intervals between train movements where maintenance can safely occur.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✔ Multi-Departmental Bundling: </a:t>
            </a:r>
            <a:r>
              <a:rPr>
                <a:solidFill>
                  <a:srgbClr val="69625C"/>
                </a:solidFill>
              </a:rPr>
              <a:t>Synchronizes Civil track tamping, Electrical OHE neutral wire overhauls, and Signal point machine testing into a single unified 120-minute window.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✔ Strict Mathematical Safety Buffer: </a:t>
            </a:r>
            <a:r>
              <a:rPr>
                <a:solidFill>
                  <a:srgbClr val="69625C"/>
                </a:solidFill>
              </a:rPr>
              <a:t>Enforces 15-minute headway protection using Google OR-Tools CP-SAT, ensuring zero passenger train conflicts with mathematical proof.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✔ Dynamic Perturbation Recovery: </a:t>
            </a:r>
            <a:r>
              <a:rPr>
                <a:solidFill>
                  <a:srgbClr val="69625C"/>
                </a:solidFill>
              </a:rPr>
              <a:t>Automatically reschedules blocks and accommodates emergency defect demands in under 1 second without delaying corridor traffic.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"/>
            <a:ext cx="112772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52A2A"/>
                </a:solidFill>
                <a:latin typeface="Times New Roman"/>
              </a:defRPr>
            </a:pPr>
            <a:r>
              <a:t>SMART INDIA HACKATHON 2026 • OFFICIAL IDEA TEMPLATE | SLIDE 3 OF 6</a:t>
            </a:r>
          </a:p>
          <a:p>
            <a:pPr>
              <a:defRPr sz="1900" b="1">
                <a:solidFill>
                  <a:srgbClr val="252525"/>
                </a:solidFill>
                <a:latin typeface="Times New Roman"/>
              </a:defRPr>
            </a:pPr>
            <a:r>
              <a:t>Technical Architecture &amp; Operational Workflow of the Website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7432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Times New Roman"/>
              </a:defRPr>
            </a:pPr>
            <a:r>
              <a:t>Smart India Hackathon 2026 | Problem Statement: SIH26027 | RailSamanvay (रेल समन्वय) | Slide 3 of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t>Core Technology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▪ Optimization Engine: </a:t>
            </a:r>
            <a:r>
              <a:rPr>
                <a:solidFill>
                  <a:srgbClr val="69625C"/>
                </a:solidFill>
              </a:rPr>
              <a:t>Google OR-Tools CP-SAT (Constraint Programming) handles integer variables for block timing, line conflicts, and safety buffers.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▪ Backend Web Framework: </a:t>
            </a:r>
            <a:r>
              <a:rPr>
                <a:solidFill>
                  <a:srgbClr val="69625C"/>
                </a:solidFill>
              </a:rPr>
              <a:t>Python 3 + FastAPI asynchronous REST services for real-time section controller endpoints and sub-millisecond query speed.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▪ Persistence &amp; Audit Engine: </a:t>
            </a:r>
            <a:r>
              <a:rPr>
                <a:solidFill>
                  <a:srgbClr val="69625C"/>
                </a:solidFill>
              </a:rPr>
              <a:t>SQLite Relational Archive for recording controller decisions, completed maintenance logs, and train clearances.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▪ Visuals &amp; Digital Twin: </a:t>
            </a:r>
            <a:r>
              <a:rPr>
                <a:solidFill>
                  <a:srgbClr val="69625C"/>
                </a:solidFill>
              </a:rPr>
              <a:t>Plotly.js for the interactive Marey Chart (Time-Distance graph) with non-overlapping labels; Leaflet.js for multi-track GIS.</a:t>
            </a:r>
          </a:p>
          <a:p>
            <a:pPr>
              <a:spcAft>
                <a:spcPts val="10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▪ Frontend &amp; Theme: </a:t>
            </a:r>
            <a:r>
              <a:rPr>
                <a:solidFill>
                  <a:srgbClr val="69625C"/>
                </a:solidFill>
              </a:rPr>
              <a:t>Tailwind CSS implementing authentic Indian Railways Crimson (#A52A2A) &amp; Warm Ivory (#F4F1EA) palette with Tiranga strip.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D4A317"/>
                </a:solidFill>
                <a:latin typeface="Times New Roman"/>
              </a:defRPr>
            </a:pPr>
            <a:r>
              <a:t>Step-by-Step Working of the Website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7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Step 1 (Corridor Overview): </a:t>
            </a:r>
            <a:r>
              <a:rPr>
                <a:solidFill>
                  <a:srgbClr val="69625C"/>
                </a:solidFill>
              </a:rPr>
              <a:t>Controller accesses dashboard showing 3 physical lines (Up Main, Down Main, Loop Siding) on Standard, Satellite, or Terrain views.</a:t>
            </a:r>
          </a:p>
          <a:p>
            <a:pPr>
              <a:spcAft>
                <a:spcPts val="7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Step 2 (Run AI Optimizer): </a:t>
            </a:r>
            <a:r>
              <a:rPr>
                <a:solidFill>
                  <a:srgbClr val="69625C"/>
                </a:solidFill>
              </a:rPr>
              <a:t>Clicking 'Run AI Block Planner' triggers the CP-SAT engine, computing bundled blocks and updating KPIs (+19.2% capacity, 320m saved).</a:t>
            </a:r>
          </a:p>
          <a:p>
            <a:pPr>
              <a:spcAft>
                <a:spcPts val="7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Step 3 (Marey Chart Inspection): </a:t>
            </a:r>
            <a:r>
              <a:rPr>
                <a:solidFill>
                  <a:srgbClr val="69625C"/>
                </a:solidFill>
              </a:rPr>
              <a:t>Time-Distance trajectories display diagonal train movements with staggered badges and shaded green block shadows.</a:t>
            </a:r>
          </a:p>
          <a:p>
            <a:pPr>
              <a:spcAft>
                <a:spcPts val="7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Step 4 (Controller Governance): </a:t>
            </a:r>
            <a:r>
              <a:rPr>
                <a:solidFill>
                  <a:srgbClr val="69625C"/>
                </a:solidFill>
              </a:rPr>
              <a:t>Controller clicks 'Allow' or 'Deny' to authorize works; dynamic 'Undo' button enables instant decision reversibility.</a:t>
            </a:r>
          </a:p>
          <a:p>
            <a:pPr>
              <a:spcAft>
                <a:spcPts val="7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Step 5 (Emergency Injection): </a:t>
            </a:r>
            <a:r>
              <a:rPr>
                <a:solidFill>
                  <a:srgbClr val="69625C"/>
                </a:solidFill>
              </a:rPr>
              <a:t>Clicking 'Report Emergency Defect' slots an emergency weld fracture block at KM 131.2 with instant automated rescheduling.</a:t>
            </a:r>
          </a:p>
          <a:p>
            <a:pPr>
              <a:spcAft>
                <a:spcPts val="7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Step 6 (Radar &amp; Archive): </a:t>
            </a:r>
            <a:r>
              <a:rPr>
                <a:solidFill>
                  <a:srgbClr val="69625C"/>
                </a:solidFill>
              </a:rPr>
              <a:t>Live Train Radar tracks KM location and Division ETA; Historical Archive preserves DGMS safety audit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"/>
            <a:ext cx="112772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52A2A"/>
                </a:solidFill>
                <a:latin typeface="Times New Roman"/>
              </a:defRPr>
            </a:pPr>
            <a:r>
              <a:t>SMART INDIA HACKATHON 2026 • OFFICIAL IDEA TEMPLATE | SLIDE 4 OF 6</a:t>
            </a:r>
          </a:p>
          <a:p>
            <a:pPr>
              <a:defRPr sz="1900" b="1">
                <a:solidFill>
                  <a:srgbClr val="252525"/>
                </a:solidFill>
                <a:latin typeface="Times New Roman"/>
              </a:defRPr>
            </a:pPr>
            <a:r>
              <a:t>Feasibility, Viability &amp; Quantifiable Advantages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7432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Times New Roman"/>
              </a:defRPr>
            </a:pPr>
            <a:r>
              <a:t>Smart India Hackathon 2026 | Problem Statement: SIH26027 | RailSamanvay (रेल समन्वय) | Slide 4 of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4630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52A2A"/>
                </a:solidFill>
                <a:latin typeface="Times New Roman"/>
              </a:defRPr>
            </a:pPr>
            <a:r>
              <a:t>+19.2%</a:t>
            </a:r>
          </a:p>
          <a:p>
            <a:pPr algn="ctr">
              <a:defRPr sz="1100" b="1">
                <a:solidFill>
                  <a:srgbClr val="252525"/>
                </a:solidFill>
                <a:latin typeface="Times New Roman"/>
              </a:defRPr>
            </a:pPr>
            <a:r>
              <a:t>CORRIDOR CAPACITY GAIN</a:t>
            </a:r>
          </a:p>
          <a:p>
            <a:pPr algn="ctr">
              <a:defRPr sz="950">
                <a:solidFill>
                  <a:srgbClr val="69625C"/>
                </a:solidFill>
                <a:latin typeface="Times New Roman"/>
              </a:defRPr>
            </a:pPr>
            <a:r>
              <a:t>Substantial increase in daily train throughput across high-density sections.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4630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F684F"/>
                </a:solidFill>
                <a:latin typeface="Times New Roman"/>
              </a:defRPr>
            </a:pPr>
            <a:r>
              <a:t>320 Mins</a:t>
            </a:r>
          </a:p>
          <a:p>
            <a:pPr algn="ctr">
              <a:defRPr sz="1100" b="1">
                <a:solidFill>
                  <a:srgbClr val="252525"/>
                </a:solidFill>
                <a:latin typeface="Times New Roman"/>
              </a:defRPr>
            </a:pPr>
            <a:r>
              <a:t>DAILY DELAY AVOIDED</a:t>
            </a:r>
          </a:p>
          <a:p>
            <a:pPr algn="ctr">
              <a:defRPr sz="950">
                <a:solidFill>
                  <a:srgbClr val="69625C"/>
                </a:solidFill>
                <a:latin typeface="Times New Roman"/>
              </a:defRPr>
            </a:pPr>
            <a:r>
              <a:t>Cumulative passenger &amp; freight detention eliminated per day.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6304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D4A317"/>
                </a:solidFill>
                <a:latin typeface="Times New Roman"/>
              </a:defRPr>
            </a:pPr>
            <a:r>
              <a:t>2.5 Depts</a:t>
            </a:r>
          </a:p>
          <a:p>
            <a:pPr algn="ctr">
              <a:defRPr sz="1100" b="1">
                <a:solidFill>
                  <a:srgbClr val="252525"/>
                </a:solidFill>
                <a:latin typeface="Times New Roman"/>
              </a:defRPr>
            </a:pPr>
            <a:r>
              <a:t>BUNDLING EFFICIENCY</a:t>
            </a:r>
          </a:p>
          <a:p>
            <a:pPr algn="ctr">
              <a:defRPr sz="950">
                <a:solidFill>
                  <a:srgbClr val="69625C"/>
                </a:solidFill>
                <a:latin typeface="Times New Roman"/>
              </a:defRPr>
            </a:pPr>
            <a:r>
              <a:t>Average departmental demands synchronized into a single block window.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E3A8A"/>
                </a:solidFill>
                <a:latin typeface="Times New Roman"/>
              </a:defRPr>
            </a:pPr>
            <a:r>
              <a:t>₹3.65 Cr</a:t>
            </a:r>
          </a:p>
          <a:p>
            <a:pPr algn="ctr">
              <a:defRPr sz="1100" b="1">
                <a:solidFill>
                  <a:srgbClr val="252525"/>
                </a:solidFill>
                <a:latin typeface="Times New Roman"/>
              </a:defRPr>
            </a:pPr>
            <a:r>
              <a:t>SAVED ACROSS 8 DAYS</a:t>
            </a:r>
          </a:p>
          <a:p>
            <a:pPr algn="ctr">
              <a:defRPr sz="950">
                <a:solidFill>
                  <a:srgbClr val="69625C"/>
                </a:solidFill>
                <a:latin typeface="Times New Roman"/>
              </a:defRPr>
            </a:pPr>
            <a:r>
              <a:t>Direct operational savings in fuel burn, crew overtime &amp; demurrage.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747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6576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F684F"/>
                </a:solidFill>
                <a:latin typeface="Times New Roman"/>
              </a:defRPr>
            </a:pPr>
            <a:r>
              <a:t>+8.7%</a:t>
            </a:r>
          </a:p>
          <a:p>
            <a:pPr algn="ctr">
              <a:defRPr sz="1100" b="1">
                <a:solidFill>
                  <a:srgbClr val="252525"/>
                </a:solidFill>
                <a:latin typeface="Times New Roman"/>
              </a:defRPr>
            </a:pPr>
            <a:r>
              <a:t>PUNCTUALITY BOOST</a:t>
            </a:r>
          </a:p>
          <a:p>
            <a:pPr algn="ctr">
              <a:defRPr sz="950">
                <a:solidFill>
                  <a:srgbClr val="69625C"/>
                </a:solidFill>
                <a:latin typeface="Times New Roman"/>
              </a:defRPr>
            </a:pPr>
            <a:r>
              <a:t>Measured improvement in on-time arrivals for premier passenger services.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3474720"/>
            <a:ext cx="33832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3657600"/>
            <a:ext cx="3017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A52A2A"/>
                </a:solidFill>
                <a:latin typeface="Times New Roman"/>
              </a:defRPr>
            </a:pPr>
            <a:r>
              <a:t>100%</a:t>
            </a:r>
          </a:p>
          <a:p>
            <a:pPr algn="ctr">
              <a:defRPr sz="1100" b="1">
                <a:solidFill>
                  <a:srgbClr val="252525"/>
                </a:solidFill>
                <a:latin typeface="Times New Roman"/>
              </a:defRPr>
            </a:pPr>
            <a:r>
              <a:t>HUMAN GOVERNANCE</a:t>
            </a:r>
          </a:p>
          <a:p>
            <a:pPr algn="ctr">
              <a:defRPr sz="950">
                <a:solidFill>
                  <a:srgbClr val="69625C"/>
                </a:solidFill>
                <a:latin typeface="Times New Roman"/>
              </a:defRPr>
            </a:pPr>
            <a:r>
              <a:t>Section controllers retain full veto power via the Allow/Deny/Undo loop.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5623560"/>
            <a:ext cx="108813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4A3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2525"/>
                </a:solidFill>
                <a:latin typeface="Times New Roman"/>
              </a:defRPr>
            </a:pPr>
            <a:r>
              <a:t>Operational Viability: RailSamanvay requires zero changes to existing track infrastructure. It acts as an intelligent software layer connecting Control Office Application (COA) with Track (TMS), Traction (TDMS), and Signal (SMMS) databases.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"/>
            <a:ext cx="112772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52A2A"/>
                </a:solidFill>
                <a:latin typeface="Times New Roman"/>
              </a:defRPr>
            </a:pPr>
            <a:r>
              <a:t>SMART INDIA HACKATHON 2026 • OFFICIAL IDEA TEMPLATE | SLIDE 5 OF 6</a:t>
            </a:r>
          </a:p>
          <a:p>
            <a:pPr>
              <a:defRPr sz="1900" b="1">
                <a:solidFill>
                  <a:srgbClr val="252525"/>
                </a:solidFill>
                <a:latin typeface="Times New Roman"/>
              </a:defRPr>
            </a:pPr>
            <a:r>
              <a:t>Potential Challenges, Risk Mitigation &amp; Future Improvements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7432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Times New Roman"/>
              </a:defRPr>
            </a:pPr>
            <a:r>
              <a:t>Smart India Hackathon 2026 | Problem Statement: SIH26027 | RailSamanvay (रेल समन्वय) | Slide 5 of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52A2A"/>
                </a:solidFill>
                <a:latin typeface="Times New Roman"/>
              </a:defRPr>
            </a:pPr>
            <a:r>
              <a:t>Potential Challenges &amp; Mitigations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⚠️ Legacy System Integration: </a:t>
            </a:r>
            <a:r>
              <a:rPr>
                <a:solidFill>
                  <a:srgbClr val="69625C"/>
                </a:solidFill>
              </a:rPr>
              <a:t>Challenge: Disparate APIs across COA, TMS, and TDMS.
Mitigation: RailSamanvay exposes standardized async REST microservices with built-in data transformation adapters.</a:t>
            </a:r>
          </a:p>
          <a:p>
            <a:pPr>
              <a:spcAft>
                <a:spcPts val="8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⚠️ Real-Time Traffic Fluctuations: </a:t>
            </a:r>
            <a:r>
              <a:rPr>
                <a:solidFill>
                  <a:srgbClr val="69625C"/>
                </a:solidFill>
              </a:rPr>
              <a:t>Challenge: Sudden train delays disrupt pre-scheduled windows.
Mitigation: Built-in perturbation simulator dynamically shifts safety intervals without cancelling maintenance.</a:t>
            </a:r>
          </a:p>
          <a:p>
            <a:pPr>
              <a:spcAft>
                <a:spcPts val="8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⚠️ Section Controller Resistance: </a:t>
            </a:r>
            <a:r>
              <a:rPr>
                <a:solidFill>
                  <a:srgbClr val="69625C"/>
                </a:solidFill>
              </a:rPr>
              <a:t>Challenge: Reluctance to adopt 'black box' automation.
Mitigation: Transparent, explainable CP-SAT schedules with full controller veto and instant 'Undo' capability.</a:t>
            </a:r>
          </a:p>
          <a:p>
            <a:pPr>
              <a:spcAft>
                <a:spcPts val="8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⚠️ Offline Connectivity at Waystations: </a:t>
            </a:r>
            <a:r>
              <a:rPr>
                <a:solidFill>
                  <a:srgbClr val="69625C"/>
                </a:solidFill>
              </a:rPr>
              <a:t>Challenge: Unstable network in remote track sections.
Mitigation: Dual-engine client architecture enables seamless offline caching and localized dispatching.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Times New Roman"/>
              </a:defRPr>
            </a:pPr>
            <a:r>
              <a:t>Future Improvements &amp; 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🚀 Integration with Kavach (ATP): </a:t>
            </a:r>
            <a:r>
              <a:rPr>
                <a:solidFill>
                  <a:srgbClr val="69625C"/>
                </a:solidFill>
              </a:rPr>
              <a:t>Direct coupling with Indian Railways' indigenous Kavach Automatic Train Protection system for real-time electronic block authorization.</a:t>
            </a:r>
          </a:p>
          <a:p>
            <a:pPr>
              <a:spcAft>
                <a:spcPts val="12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🚀 Nationwide Pan-India Rollout: </a:t>
            </a:r>
            <a:r>
              <a:rPr>
                <a:solidFill>
                  <a:srgbClr val="69625C"/>
                </a:solidFill>
              </a:rPr>
              <a:t>Modular microservice architecture designed to scale seamlessly across all 68 Railway Divisions and 17 Zonal Railways.</a:t>
            </a:r>
          </a:p>
          <a:p>
            <a:pPr>
              <a:spcAft>
                <a:spcPts val="12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🚀 IoT &amp; Acoustic Sensor Ingestion: </a:t>
            </a:r>
            <a:r>
              <a:rPr>
                <a:solidFill>
                  <a:srgbClr val="69625C"/>
                </a:solidFill>
              </a:rPr>
              <a:t>Direct integration with TMS acoustic bearing detectors and ultrasonic rail flaw detection for predictive, automated block requests.</a:t>
            </a:r>
          </a:p>
          <a:p>
            <a:pPr>
              <a:spcAft>
                <a:spcPts val="12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🚀 Dedicated Freight Corridors (DFCCIL): </a:t>
            </a:r>
            <a:r>
              <a:rPr>
                <a:solidFill>
                  <a:srgbClr val="69625C"/>
                </a:solidFill>
              </a:rPr>
              <a:t>Cross-network synchronization between Indian Railways passenger lines and EDFC/WDFC freight routes for mega-block scheduling.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73152"/>
          </a:xfrm>
          <a:prstGeom prst="rect">
            <a:avLst/>
          </a:prstGeom>
          <a:solidFill>
            <a:srgbClr val="FF7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63898" y="0"/>
            <a:ext cx="4063898" cy="731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7796" y="0"/>
            <a:ext cx="4063898" cy="73152"/>
          </a:xfrm>
          <a:prstGeom prst="rect">
            <a:avLst/>
          </a:prstGeom>
          <a:solidFill>
            <a:srgbClr val="138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"/>
            <a:ext cx="1127729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7744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A52A2A"/>
                </a:solidFill>
                <a:latin typeface="Times New Roman"/>
              </a:defRPr>
            </a:pPr>
            <a:r>
              <a:t>SMART INDIA HACKATHON 2026 • OFFICIAL IDEA TEMPLATE | SLIDE 6 OF 6</a:t>
            </a:r>
          </a:p>
          <a:p>
            <a:pPr>
              <a:defRPr sz="1900" b="1">
                <a:solidFill>
                  <a:srgbClr val="252525"/>
                </a:solidFill>
                <a:latin typeface="Times New Roman"/>
              </a:defRPr>
            </a:pPr>
            <a:r>
              <a:t>Conclusion, National Impact &amp; Live Demonstration</a:t>
            </a:r>
          </a:p>
        </p:txBody>
      </p:sp>
      <p:pic>
        <p:nvPicPr>
          <p:cNvPr id="8" name="Picture 7" descr="ir_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74320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625C"/>
                </a:solidFill>
                <a:latin typeface="Times New Roman"/>
              </a:defRPr>
            </a:pPr>
            <a:r>
              <a:t>Smart India Hackathon 2026 | Problem Statement: SIH26027 | RailSamanvay (रेल समन्वय) | Slide 6 of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3F684F"/>
                </a:solidFill>
                <a:latin typeface="Times New Roman"/>
              </a:defRPr>
            </a:pPr>
            <a:r>
              <a:t>National Impact &amp;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🎯 Mission 'Viksit Bharat 2047': </a:t>
            </a:r>
            <a:r>
              <a:rPr>
                <a:solidFill>
                  <a:srgbClr val="69625C"/>
                </a:solidFill>
              </a:rPr>
              <a:t>Supports national vision of high-speed passenger corridors operating in tandem with world-class track maintenance standards.</a:t>
            </a:r>
          </a:p>
          <a:p>
            <a:pPr>
              <a:spcAft>
                <a:spcPts val="12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🎯 National Rail Plan 2030 Alignment: </a:t>
            </a:r>
            <a:r>
              <a:rPr>
                <a:solidFill>
                  <a:srgbClr val="69625C"/>
                </a:solidFill>
              </a:rPr>
              <a:t>Directly addresses infrastructure bottlenecks to support increasing freight modal share from 27% to 45%.</a:t>
            </a:r>
          </a:p>
          <a:p>
            <a:pPr>
              <a:spcAft>
                <a:spcPts val="12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🎯 Zero Accidents from Deferred Upkeep: </a:t>
            </a:r>
            <a:r>
              <a:rPr>
                <a:solidFill>
                  <a:srgbClr val="69625C"/>
                </a:solidFill>
              </a:rPr>
              <a:t>Guaranteed shadow maintenance windows eliminate deferred maintenance backlogs, directly preventing rail fractures and derailments.</a:t>
            </a:r>
          </a:p>
          <a:p>
            <a:pPr>
              <a:spcAft>
                <a:spcPts val="1200"/>
              </a:spcAft>
              <a:defRPr sz="105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🎯 Maximum Corridor Asset Availability: </a:t>
            </a:r>
            <a:r>
              <a:rPr>
                <a:solidFill>
                  <a:srgbClr val="69625C"/>
                </a:solidFill>
              </a:rPr>
              <a:t>Extracts +19.2% extra capacity from existing track infrastructure without spending billions on new land acquisition.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280160"/>
            <a:ext cx="5212080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1732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A52A2A"/>
                </a:solidFill>
                <a:latin typeface="Times New Roman"/>
              </a:defRPr>
            </a:pPr>
            <a:r>
              <a:t>Conclusion &amp;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7830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52A2A"/>
                </a:solidFill>
                <a:latin typeface="Times New Roman"/>
              </a:defRPr>
            </a:pPr>
            <a:r>
              <a:t>Why RailSamanvay Wins SIH26027:</a:t>
            </a:r>
          </a:p>
          <a:p>
            <a:pPr>
              <a:spcAft>
                <a:spcPts val="8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✔ Production-Ready Prototype: </a:t>
            </a:r>
            <a:r>
              <a:rPr>
                <a:solidFill>
                  <a:srgbClr val="69625C"/>
                </a:solidFill>
              </a:rPr>
              <a:t>Fully functional system tested with real-world NCR Delhi-Kanpur timetable data.</a:t>
            </a:r>
          </a:p>
          <a:p>
            <a:pPr>
              <a:spcAft>
                <a:spcPts val="8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✔ Proven Mathematical Optimization: </a:t>
            </a:r>
            <a:r>
              <a:rPr>
                <a:solidFill>
                  <a:srgbClr val="69625C"/>
                </a:solidFill>
              </a:rPr>
              <a:t>Constraint Programming solver guarantees zero passenger train conflicts.</a:t>
            </a:r>
          </a:p>
          <a:p>
            <a:pPr>
              <a:spcAft>
                <a:spcPts val="8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✔ Empowering Humans: </a:t>
            </a:r>
            <a:r>
              <a:rPr>
                <a:solidFill>
                  <a:srgbClr val="69625C"/>
                </a:solidFill>
              </a:rPr>
              <a:t>Transforms section controllers from stressed dispatchers into strategic corridor directors.</a:t>
            </a:r>
          </a:p>
          <a:p>
            <a:pPr>
              <a:spcAft>
                <a:spcPts val="800"/>
              </a:spcAft>
              <a:defRPr sz="1000">
                <a:latin typeface="Times New Roman"/>
              </a:defRPr>
            </a:pPr>
            <a:r>
              <a:rPr b="1">
                <a:solidFill>
                  <a:srgbClr val="252525"/>
                </a:solidFill>
              </a:rPr>
              <a:t>✔ Immediate Implementability: </a:t>
            </a:r>
            <a:r>
              <a:rPr>
                <a:solidFill>
                  <a:srgbClr val="69625C"/>
                </a:solidFill>
              </a:rPr>
              <a:t>Pure software solution requiring zero expensive hardware upgrades.</a:t>
            </a:r>
          </a:p>
          <a:p>
            <a:br/>
            <a:pPr algn="ctr">
              <a:defRPr sz="1200" b="1">
                <a:solidFill>
                  <a:srgbClr val="1E3A8A"/>
                </a:solidFill>
                <a:latin typeface="Times New Roman"/>
              </a:defRPr>
            </a:pPr>
            <a:r>
              <a:t>Thank you, Respected Evaluators!</a:t>
            </a:r>
            <a:br/>
            <a:r>
              <a:t>We invite you to the Live Website &amp; System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