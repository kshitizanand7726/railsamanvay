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097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28016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2788920"/>
            <a:ext cx="8899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2A2A"/>
                </a:solidFill>
                <a:latin typeface="Segoe UI"/>
              </a:defRPr>
            </a:pPr>
            <a:r>
              <a:t>SMART INDIA HACKATHON 2026 • PROBLEM STATEMENT: SIH26027</a:t>
            </a:r>
          </a:p>
          <a:p>
            <a:pPr algn="ctr">
              <a:defRPr sz="3600" b="1">
                <a:solidFill>
                  <a:srgbClr val="A52A2A"/>
                </a:solidFill>
                <a:latin typeface="Segoe UI"/>
              </a:defRPr>
            </a:pPr>
            <a:r>
              <a:t>RailSamanvay (रेल समन्वय)</a:t>
            </a:r>
          </a:p>
          <a:p>
            <a:pPr algn="ctr">
              <a:defRPr sz="1500" b="1">
                <a:solidFill>
                  <a:srgbClr val="252525"/>
                </a:solidFill>
                <a:latin typeface="Segoe UI"/>
              </a:defRPr>
            </a:pPr>
            <a:r>
              <a:t>AI-Powered Automatic Block Planning to Maximize Asset Availability for Train Operations</a:t>
            </a:r>
          </a:p>
          <a:p>
            <a:pPr algn="ctr">
              <a:defRPr sz="1200">
                <a:solidFill>
                  <a:srgbClr val="69625C"/>
                </a:solidFill>
                <a:latin typeface="Segoe UI"/>
              </a:defRPr>
            </a:pPr>
            <a:r>
              <a:t>Ministry of Railways • Government of India | High-Density Network (New Delhi – Kanpur Corridor)</a:t>
            </a:r>
          </a:p>
          <a:p>
            <a:br/>
            <a:pPr algn="ctr">
              <a:defRPr sz="1300" b="1">
                <a:solidFill>
                  <a:srgbClr val="D4A317"/>
                </a:solidFill>
                <a:latin typeface="Segoe UI"/>
              </a:defRPr>
            </a:pPr>
            <a:r>
              <a:t>[ Team RailSamanvay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The Core Problem: Siloed Maintenance vs. Traffic Saturation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Current Bottlenecks on Indian Railways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• Disparate Departmental Silos: </a:t>
            </a:r>
            <a:r>
              <a:rPr>
                <a:solidFill>
                  <a:srgbClr val="69625C"/>
                </a:solidFill>
              </a:rPr>
              <a:t>Civil (TMS), Electrical (TDMS), and Signal (SMMS) request maintenance blocks independently with zero cross-visibility.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• Piecemeal Block Granting: </a:t>
            </a:r>
            <a:r>
              <a:rPr>
                <a:solidFill>
                  <a:srgbClr val="69625C"/>
                </a:solidFill>
              </a:rPr>
              <a:t>Granting separate 2-hour windows per department shuts down high-density tracks for 5 to 6 hours daily.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• Traffic Congestion &amp; Delay Spirals: </a:t>
            </a:r>
            <a:r>
              <a:rPr>
                <a:solidFill>
                  <a:srgbClr val="69625C"/>
                </a:solidFill>
              </a:rPr>
              <a:t>Passenger trains (Vande Bharat, Rajdhani) get regulated at outer signals, cascading delays across divisions.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• Emergency Chaos: </a:t>
            </a:r>
            <a:r>
              <a:rPr>
                <a:solidFill>
                  <a:srgbClr val="69625C"/>
                </a:solidFill>
              </a:rPr>
              <a:t>When a sudden rail fracture or OHE defect occurs, section controllers must manually replan in real-time under high pressure.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F684F"/>
                </a:solidFill>
                <a:latin typeface="Segoe UI"/>
              </a:defRPr>
            </a:pPr>
            <a:r>
              <a:t>The RailSamanvay Solution Paradigm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AI Shadow Scheduling: </a:t>
            </a:r>
            <a:r>
              <a:rPr>
                <a:solidFill>
                  <a:srgbClr val="69625C"/>
                </a:solidFill>
              </a:rPr>
              <a:t>Automatically locates natural idle gaps between high-speed train movements where maintenance can be safely 'shadowed'.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Multi-Department Bundling: </a:t>
            </a:r>
            <a:r>
              <a:rPr>
                <a:solidFill>
                  <a:srgbClr val="69625C"/>
                </a:solidFill>
              </a:rPr>
              <a:t>Fuses Civil tamping, OHE neutral wire overhauls, and Point machine testing into a single unified window.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Mathematical Safety Guarantees: </a:t>
            </a:r>
            <a:r>
              <a:rPr>
                <a:solidFill>
                  <a:srgbClr val="69625C"/>
                </a:solidFill>
              </a:rPr>
              <a:t>Enforces strict headway buffers (15 mins) using Constraint Programming (zero chance of train conflict).</a:t>
            </a:r>
          </a:p>
          <a:p>
            <a:pPr>
              <a:spcAft>
                <a:spcPts val="1200"/>
              </a:spcAft>
              <a:defRPr sz="110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Dynamic Perturbation Recovery: </a:t>
            </a:r>
            <a:r>
              <a:rPr>
                <a:solidFill>
                  <a:srgbClr val="69625C"/>
                </a:solidFill>
              </a:rPr>
              <a:t>Instantly recalculates corridor paths and slots emergency defects in &lt;1 second upon TMS alarms.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Comprehensive Technology Stack &amp; Architecture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Google OR-Tools CP-SAT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3A8A"/>
                </a:solidFill>
                <a:latin typeface="Segoe UI"/>
              </a:defRPr>
            </a:pPr>
            <a:r>
              <a:t>CORE AI &amp; OPTIMIZATION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Constraint Satisfaction Programming (CSP)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Mathematical proof of safety buffers (T ± 15m)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Guarantees conflict-free train &amp; block paths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Deterministic, non-probabilistic safety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Python 3 +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A52A2A"/>
                </a:solidFill>
                <a:latin typeface="Segoe UI"/>
              </a:defRPr>
            </a:pPr>
            <a:r>
              <a:t>BACKEND &amp; MICROSERVICES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Asynchronous REST API architecture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Sub-millisecond latency for real-time COA queries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Pydantic data modeling for emergency inputs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High-concurrency section controller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317"/>
                </a:solidFill>
                <a:latin typeface="Segoe UI"/>
              </a:defRPr>
            </a:pPr>
            <a:r>
              <a:t>Plotly.js + Leaflet 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4A317"/>
                </a:solidFill>
                <a:latin typeface="Segoe UI"/>
              </a:defRPr>
            </a:pPr>
            <a:r>
              <a:t>DATA VISUALIZATION &amp; GIS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Interactive Marey Chart (Time-Distance graph)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Staggered non-overlapping train milestone badges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Multi-track corridor GIS (Up, Down, Loop Lines)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Esri Satellite with English boundary overlays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31920"/>
            <a:ext cx="512064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F684F"/>
                </a:solidFill>
                <a:latin typeface="Segoe UI"/>
              </a:defRPr>
            </a:pPr>
            <a:r>
              <a:t>SQLite + 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F684F"/>
                </a:solidFill>
                <a:latin typeface="Segoe UI"/>
              </a:defRPr>
            </a:pPr>
            <a:r>
              <a:t>PERSISTENCE &amp; DESIGN SYSTEM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High-speed persistent SQL archive for audit trails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Zero-latency historical maintenance retrieval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Authentic Indian Railways Warm Ivory &amp; Crimson theme</a:t>
            </a:r>
          </a:p>
          <a:p>
            <a:pPr>
              <a:spcAft>
                <a:spcPts val="200"/>
              </a:spcAft>
              <a:defRPr sz="1050">
                <a:solidFill>
                  <a:srgbClr val="252525"/>
                </a:solidFill>
                <a:latin typeface="Segoe UI"/>
              </a:defRPr>
            </a:pPr>
            <a:r>
              <a:t>• Universal Dual-Engine adapter for static edge resilience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AI Scheduling Engine: Constraint Satisfaction Programming (CP-SAT)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Mathematical Modeling of Corridor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Decision Variables: </a:t>
            </a:r>
            <a:r>
              <a:rPr>
                <a:solidFill>
                  <a:srgbClr val="69625C"/>
                </a:solidFill>
              </a:rPr>
              <a:t>start_v and end_v bounded within operational corridor horizon [360, 1080] mins (06:00 to 18:00).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Block Duration Constraints: </a:t>
            </a:r>
            <a:r>
              <a:rPr>
                <a:solidFill>
                  <a:srgbClr val="69625C"/>
                </a:solidFill>
              </a:rPr>
              <a:t>end_v == start_v + duration (enforcing uninterrupted maintenance windows).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Line-Specific Track Isolation: </a:t>
            </a:r>
            <a:r>
              <a:rPr>
                <a:solidFill>
                  <a:srgbClr val="69625C"/>
                </a:solidFill>
              </a:rPr>
              <a:t>Enforces collision checks strictly between matching track lines (Down Line blocks only constrain Down Line trains).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Safety Headway Buffer: </a:t>
            </a:r>
            <a:r>
              <a:rPr>
                <a:solidFill>
                  <a:srgbClr val="69625C"/>
                </a:solidFill>
              </a:rPr>
              <a:t>Every block enforces: (end_v + 15 &lt;= train_pass_time) OR (start_v &gt;= train_pass_time + 15).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Objective Function: </a:t>
            </a:r>
            <a:r>
              <a:rPr>
                <a:solidFill>
                  <a:srgbClr val="69625C"/>
                </a:solidFill>
              </a:rPr>
              <a:t>Maximize asset maintenance window while penalizing any passenger train perturbation to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Why CP-SAT over Deep Learning / Heuristics?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Zero Hallucinations: </a:t>
            </a:r>
            <a:r>
              <a:rPr>
                <a:solidFill>
                  <a:srgbClr val="69625C"/>
                </a:solidFill>
              </a:rPr>
              <a:t>In safety-critical railways, probabilistic models cannot be trusted. CP-SAT provides mathematical certainty of conflict-free paths.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Sub-Second Optimization: </a:t>
            </a:r>
            <a:r>
              <a:rPr>
                <a:solidFill>
                  <a:srgbClr val="69625C"/>
                </a:solidFill>
              </a:rPr>
              <a:t>CP-SAT solves complex multi-train multi-block combinatorial problems in under 300 milliseconds on standard CPU hardware.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Deterministic Safety Guarantees: </a:t>
            </a:r>
            <a:r>
              <a:rPr>
                <a:solidFill>
                  <a:srgbClr val="69625C"/>
                </a:solidFill>
              </a:rPr>
              <a:t>If a block cannot be granted safely without violating buffers, CP-SAT proves infeasibility and suggests delay deferral.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Dynamic Re-Optimization: </a:t>
            </a:r>
            <a:r>
              <a:rPr>
                <a:solidFill>
                  <a:srgbClr val="69625C"/>
                </a:solidFill>
              </a:rPr>
              <a:t>Handles sudden train delays (e.g. +15m delay) by sliding shadow intervals instantly without re-training.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Key Innovation: Multi-Departmental Shadow Bundling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Traditional Approach (Siloed Track Closure)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❌ 10:00 - 12:00: Civil (TMS) requests 120m for Track Tamping at KM 130.</a:t>
            </a:r>
          </a:p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❌ 13:00 - 14:30: Electrical (TDMS) requests 90m for OHE Neutral Section at KM 132.</a:t>
            </a:r>
          </a:p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❌ 15:30 - 16:30: Signal (SMMS) requests 60m for Point Machine 16A Overhaul at KM 129.</a:t>
            </a:r>
          </a:p>
          <a:p>
            <a:pPr>
              <a:spcAft>
                <a:spcPts val="1200"/>
              </a:spcAft>
              <a:defRPr sz="1100" b="1">
                <a:solidFill>
                  <a:srgbClr val="A52A2A"/>
                </a:solidFill>
                <a:latin typeface="Segoe UI"/>
              </a:defRPr>
            </a:pPr>
            <a:r>
              <a:t>🚨 TOTAL TRACK DOWNTIME: 4.5 to 5.5 Hours!</a:t>
            </a:r>
          </a:p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❌ Result: Severe passenger train delays, goods train stabling, and fragmented corridor utilization.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F684F"/>
                </a:solidFill>
                <a:latin typeface="Segoe UI"/>
              </a:defRPr>
            </a:pPr>
            <a:r>
              <a:t>RailSamanvay Bundled Shadow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✔ Identifies 2-hour natural shadow gap between Vande Bharat (09:00) and Rajdhani (12:00).</a:t>
            </a:r>
          </a:p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✔ Bundles Civil (TMS) + Electrical (TDMS) + Signal (SMMS) into ONE synchronized 120-minute window (09:45 - 11:45).</a:t>
            </a:r>
          </a:p>
          <a:p>
            <a:pPr>
              <a:spcAft>
                <a:spcPts val="1200"/>
              </a:spcAft>
              <a:defRPr sz="1100">
                <a:solidFill>
                  <a:srgbClr val="252525"/>
                </a:solidFill>
                <a:latin typeface="Segoe UI"/>
              </a:defRPr>
            </a:pPr>
            <a:r>
              <a:t>✔ Synchronized site protection: All 3 gangs enter under single unified caution order.</a:t>
            </a:r>
          </a:p>
          <a:p>
            <a:pPr>
              <a:spcAft>
                <a:spcPts val="1200"/>
              </a:spcAft>
              <a:defRPr sz="1100" b="1">
                <a:solidFill>
                  <a:srgbClr val="3F684F"/>
                </a:solidFill>
                <a:latin typeface="Segoe UI"/>
              </a:defRPr>
            </a:pPr>
            <a:r>
              <a:t>⚡ TOTAL TRACK DOWNTIME: Exactly 2 Hours (Reduced by 60%!)</a:t>
            </a:r>
          </a:p>
          <a:p>
            <a:pPr>
              <a:spcAft>
                <a:spcPts val="1200"/>
              </a:spcAft>
              <a:defRPr sz="1100" b="1">
                <a:solidFill>
                  <a:srgbClr val="3F684F"/>
                </a:solidFill>
                <a:latin typeface="Segoe UI"/>
              </a:defRPr>
            </a:pPr>
            <a:r>
              <a:t>⚡ Corridor Capacity Gain: +19.2% asset availability with ZERO passenger train delay!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Visual Operations: Marey Graph &amp; Multi-Track GIS Twin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Interactive Marey Chart (Time-Distance)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Authentic Railway Plotting: </a:t>
            </a:r>
            <a:r>
              <a:rPr>
                <a:solidFill>
                  <a:srgbClr val="69625C"/>
                </a:solidFill>
              </a:rPr>
              <a:t>X-axis represents 24-hour time of day; Y-axis represents corridor stations from New Delhi (KM 0) to Kanpur Central (KM 440).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Non-Overlapping Staggered Badges: </a:t>
            </a:r>
            <a:r>
              <a:rPr>
                <a:solidFill>
                  <a:srgbClr val="69625C"/>
                </a:solidFill>
              </a:rPr>
              <a:t>Train labels are dynamically anchored along travel diagonals at alternating KM milestones (70, 160, 260, 340 KM) to prevent clustering.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Speed-Coded Train Trajectories: </a:t>
            </a:r>
            <a:r>
              <a:rPr>
                <a:solidFill>
                  <a:srgbClr val="69625C"/>
                </a:solidFill>
              </a:rPr>
              <a:t>Vande Bharat in Royal Navy (130 km/h), Rajdhani in Crimson (120 km/h), Shatabdi in Sky Blue, Freight in Gold dash.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Visual Block Shadows: </a:t>
            </a:r>
            <a:r>
              <a:rPr>
                <a:solidFill>
                  <a:srgbClr val="69625C"/>
                </a:solidFill>
              </a:rPr>
              <a:t>Scheduled maintenance blocks are rendered as shaded green zones showing protected time/space intervals.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317"/>
                </a:solidFill>
                <a:latin typeface="Segoe UI"/>
              </a:defRPr>
            </a:pPr>
            <a:r>
              <a:t>Multi-Track GIS Corridor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3 Distinct Parallel Tracks: </a:t>
            </a:r>
            <a:r>
              <a:rPr>
                <a:solidFill>
                  <a:srgbClr val="69625C"/>
                </a:solidFill>
              </a:rPr>
              <a:t>Visually distinguishes Track 1 (Up Main to NDLS), Track 2 (Down Main to CNB), and Track 3 (Loop Line Siding).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Triple Map Layer Engine: </a:t>
            </a:r>
            <a:r>
              <a:rPr>
                <a:solidFill>
                  <a:srgbClr val="69625C"/>
                </a:solidFill>
              </a:rPr>
              <a:t>Supports instant toggling between Standard OpenStreetMap, High-Res Esri Satellite, and Topographic Terrain.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Hybrid Place-Name Overlay: </a:t>
            </a:r>
            <a:r>
              <a:rPr>
                <a:solidFill>
                  <a:srgbClr val="69625C"/>
                </a:solidFill>
              </a:rPr>
              <a:t>City and station labels in English remain sharp and clearly legible even in high-resolution satellite imagery.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▪ Active Maintenance Hotspots: </a:t>
            </a:r>
            <a:r>
              <a:rPr>
                <a:solidFill>
                  <a:srgbClr val="69625C"/>
                </a:solidFill>
              </a:rPr>
              <a:t>Live geographic circular zones highlighting ongoing maintenance and track occupancy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Dynamic Rescheduling &amp; Human-in-the-Loop Governance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Real-Time Emergency Defect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🚨 TMS Critical Alert: </a:t>
            </a:r>
            <a:r>
              <a:rPr>
                <a:solidFill>
                  <a:srgbClr val="69625C"/>
                </a:solidFill>
              </a:rPr>
              <a:t>A sudden Rail Weld Fracture is detected at KM 131.2 on the Down Main Line.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🚨 1-Click Defect Injection: </a:t>
            </a:r>
            <a:r>
              <a:rPr>
                <a:solidFill>
                  <a:srgbClr val="69625C"/>
                </a:solidFill>
              </a:rPr>
              <a:t>Section controller hits 'Report Emergency Defect'. RailSamanvay immediately injects a 60-minute CRITICAL block into the solver.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🚨 Sub-Second Dynamic Rescheduling: </a:t>
            </a:r>
            <a:r>
              <a:rPr>
                <a:solidFill>
                  <a:srgbClr val="69625C"/>
                </a:solidFill>
              </a:rPr>
              <a:t>The engine automatically shifts freight regulation, adjusts loop sidings, and slots emergency gang protection safely.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🚨 Zero Guesswork: </a:t>
            </a:r>
            <a:r>
              <a:rPr>
                <a:solidFill>
                  <a:srgbClr val="69625C"/>
                </a:solidFill>
              </a:rPr>
              <a:t>Controllers avoid costly manual miscalculations under emergency stress.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F684F"/>
                </a:solidFill>
                <a:latin typeface="Segoe UI"/>
              </a:defRPr>
            </a:pPr>
            <a:r>
              <a:t>Human-in-the-Loop Controller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AI Recommends, Controller Decides: </a:t>
            </a:r>
            <a:r>
              <a:rPr>
                <a:solidFill>
                  <a:srgbClr val="69625C"/>
                </a:solidFill>
              </a:rPr>
              <a:t>The AI never unilaterally forces a block. The section controller maintains full legal and operational authority.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Allow / Deny / Undo Workflow: </a:t>
            </a:r>
            <a:r>
              <a:rPr>
                <a:solidFill>
                  <a:srgbClr val="69625C"/>
                </a:solidFill>
              </a:rPr>
              <a:t>With one click, the controller can Grant or Defer a block. Clicking Undo instantly restores the slot for re-evaluation.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Audit Compliance Trail: </a:t>
            </a:r>
            <a:r>
              <a:rPr>
                <a:solidFill>
                  <a:srgbClr val="69625C"/>
                </a:solidFill>
              </a:rPr>
              <a:t>Every decision, controller remark, and reason is timestamped into the persistent SQL archive for DGMS and CRS safety audits.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✔ Delay Perturbation Testing: </a:t>
            </a:r>
            <a:r>
              <a:rPr>
                <a:solidFill>
                  <a:srgbClr val="69625C"/>
                </a:solidFill>
              </a:rPr>
              <a:t>Controllers can simulate 'What if train 12004 is delayed by 15 mins?' to inspect downstream impacts before granting blocks.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Live Train Radar &amp; Institutional Memory Archive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Live Train Radar &amp; Division ETA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🚆 Search by Train No. or Name: </a:t>
            </a:r>
            <a:r>
              <a:rPr>
                <a:solidFill>
                  <a:srgbClr val="69625C"/>
                </a:solidFill>
              </a:rPr>
              <a:t>Instant lookup for 12302 (Rajdhani), 22436 (Vande Bharat), 12004 (Shatabdi), freight, etc.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🚆 Live Position Telemetry: </a:t>
            </a:r>
            <a:r>
              <a:rPr>
                <a:solidFill>
                  <a:srgbClr val="69625C"/>
                </a:solidFill>
              </a:rPr>
              <a:t>Displays exact current KM marker, allocated track line, current speed (km/h), and route.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🚆 Division Arrival ETA: </a:t>
            </a:r>
            <a:r>
              <a:rPr>
                <a:solidFill>
                  <a:srgbClr val="69625C"/>
                </a:solidFill>
              </a:rPr>
              <a:t>Real-time mathematical estimation of remaining distance and arrival time to Division HQ (Kanpur Central).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🚆 Live Stream Connection: </a:t>
            </a:r>
            <a:r>
              <a:rPr>
                <a:solidFill>
                  <a:srgbClr val="69625C"/>
                </a:solidFill>
              </a:rPr>
              <a:t>Integrated with COA (Control Office Application) live data stream architecture.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4A317"/>
                </a:solidFill>
                <a:latin typeface="Segoe UI"/>
              </a:defRPr>
            </a:pPr>
            <a:r>
              <a:t>Persistent Historical Archive (SQLite)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🗄️ Completed Maintenance Log: </a:t>
            </a:r>
            <a:r>
              <a:rPr>
                <a:solidFill>
                  <a:srgbClr val="69625C"/>
                </a:solidFill>
              </a:rPr>
              <a:t>Archives block IDs, sectors, track lines, bundled departments, durations, and controller reasons.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🗄️ Train Transit Clearance Registry: </a:t>
            </a:r>
            <a:r>
              <a:rPr>
                <a:solidFill>
                  <a:srgbClr val="69625C"/>
                </a:solidFill>
              </a:rPr>
              <a:t>Tracks actual crossing times, speeds, delay minutes, and punctuality status for all corridor trains.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🗄️ Safety &amp; Punctuality Auditing: </a:t>
            </a:r>
            <a:r>
              <a:rPr>
                <a:solidFill>
                  <a:srgbClr val="69625C"/>
                </a:solidFill>
              </a:rPr>
              <a:t>Provides the division with transparent records for post-block performance reviews and speed restriction removal.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🗄️ Zero Data Loss: </a:t>
            </a:r>
            <a:r>
              <a:rPr>
                <a:solidFill>
                  <a:srgbClr val="69625C"/>
                </a:solidFill>
              </a:rPr>
              <a:t>Persistent SQL storage guarantees institutional memory is retained across controller shift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Quantifiable Impact: Efficiency, Punctuality &amp; Cost Gains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2A2A"/>
                </a:solidFill>
                <a:latin typeface="Segoe UI"/>
              </a:defRPr>
            </a:pPr>
            <a:r>
              <a:t>+19.2%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CORRIDOR CAPACITY GAIN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Increase in available train transit paths per 24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684F"/>
                </a:solidFill>
                <a:latin typeface="Segoe UI"/>
              </a:defRPr>
            </a:pPr>
            <a:r>
              <a:t>320 Mins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DAILY DELAY AVOIDED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Cumulative passenger and freight detention avoided daily.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317"/>
                </a:solidFill>
                <a:latin typeface="Segoe UI"/>
              </a:defRPr>
            </a:pPr>
            <a:r>
              <a:t>2.5 Depts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BUNDLING EFFICIENCY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Average departmental demands synchronized per block.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8A"/>
                </a:solidFill>
                <a:latin typeface="Segoe UI"/>
              </a:defRPr>
            </a:pPr>
            <a:r>
              <a:t>37.2 Hours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8-DAY TOTAL TIME SAVED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Validated cumulative running hours saved on corridor.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F684F"/>
                </a:solidFill>
                <a:latin typeface="Segoe UI"/>
              </a:defRPr>
            </a:pPr>
            <a:r>
              <a:t>₹3.65 Cr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DISRUPTION COST SAVED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Estimated savings in freight demurrage &amp; diesel/power burn.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52A2A"/>
                </a:solidFill>
                <a:latin typeface="Segoe UI"/>
              </a:defRPr>
            </a:pPr>
            <a:r>
              <a:t>+8.7%</a:t>
            </a:r>
          </a:p>
          <a:p>
            <a:pPr algn="ctr">
              <a:defRPr sz="1100" b="1">
                <a:solidFill>
                  <a:srgbClr val="252525"/>
                </a:solidFill>
                <a:latin typeface="Segoe UI"/>
              </a:defRPr>
            </a:pPr>
            <a:r>
              <a:t>PUNCTUALITY BOOST</a:t>
            </a:r>
          </a:p>
          <a:p>
            <a:pPr algn="ctr">
              <a:defRPr sz="1000">
                <a:solidFill>
                  <a:srgbClr val="69625C"/>
                </a:solidFill>
                <a:latin typeface="Segoe UI"/>
              </a:defRPr>
            </a:pPr>
            <a:r>
              <a:t>Direct improvement in division passenger train on-time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A52A2A"/>
                </a:solidFill>
                <a:latin typeface="Segoe UI"/>
              </a:defRPr>
            </a:pPr>
            <a:r>
              <a:t>SIH26027 • MINISTRY OF RAILWAYS</a:t>
            </a:r>
          </a:p>
          <a:p>
            <a:pPr>
              <a:defRPr sz="2000" b="1">
                <a:solidFill>
                  <a:srgbClr val="252525"/>
                </a:solidFill>
                <a:latin typeface="Segoe UI"/>
              </a:defRPr>
            </a:pPr>
            <a:r>
              <a:t>National Scalability, Roadmap &amp; Conclusion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Segoe UI"/>
              </a:defRPr>
            </a:pPr>
            <a:r>
              <a:t>RailSamanvay (रेल समन्वय) | AI-Powered Automatic Block Planning | Prayagraj Division (NCR)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Segoe UI"/>
              </a:defRPr>
            </a:pPr>
            <a:r>
              <a:t>Future Scale &amp; National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🚀 Kavach (ATP) Integration: </a:t>
            </a:r>
            <a:r>
              <a:rPr>
                <a:solidFill>
                  <a:srgbClr val="69625C"/>
                </a:solidFill>
              </a:rPr>
              <a:t>Direct coupling with Indian Railways' Kavach automatic train protection system for electronic block telemetry.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🚀 Pan-India Rollout: </a:t>
            </a:r>
            <a:r>
              <a:rPr>
                <a:solidFill>
                  <a:srgbClr val="69625C"/>
                </a:solidFill>
              </a:rPr>
              <a:t>Scalable microservice deployment across all 68 Railway Divisions and 17 Zonal railways.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🚀 Predictive Maintenance AI: </a:t>
            </a:r>
            <a:r>
              <a:rPr>
                <a:solidFill>
                  <a:srgbClr val="69625C"/>
                </a:solidFill>
              </a:rPr>
              <a:t>Integration with TMS acoustic &amp; ultrasonic sensor feeds for proactive defect forecasting before rail fractures occur.</a:t>
            </a:r>
          </a:p>
          <a:p>
            <a:pPr>
              <a:spcAft>
                <a:spcPts val="10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🚀 Dedicated Freight Corridor (DFCCIL): </a:t>
            </a:r>
            <a:r>
              <a:rPr>
                <a:solidFill>
                  <a:srgbClr val="69625C"/>
                </a:solidFill>
              </a:rPr>
              <a:t>Inter-operable coordination between IR tracks and Eastern/Western Dedicated Freight Corridors.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A52A2A"/>
                </a:solidFill>
                <a:latin typeface="Segoe UI"/>
              </a:defRPr>
            </a:pPr>
            <a:r>
              <a:t>Conclusion: Transforming Indian Railways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🎯 From Silos to Harmony: </a:t>
            </a:r>
            <a:r>
              <a:rPr>
                <a:solidFill>
                  <a:srgbClr val="69625C"/>
                </a:solidFill>
              </a:rPr>
              <a:t>RailSamanvay turns fragmented departmental maintenance into an automated, synchronized symphony.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🎯 Proven Optimization: </a:t>
            </a:r>
            <a:r>
              <a:rPr>
                <a:solidFill>
                  <a:srgbClr val="69625C"/>
                </a:solidFill>
              </a:rPr>
              <a:t>Constraint Programming delivers mathematically guaranteed safety without train detention.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🎯 Field Ready: </a:t>
            </a:r>
            <a:r>
              <a:rPr>
                <a:solidFill>
                  <a:srgbClr val="69625C"/>
                </a:solidFill>
              </a:rPr>
              <a:t>Tested on the highest density New Delhi - Kanpur corridor with real-world operating timetable constraints.</a:t>
            </a:r>
          </a:p>
          <a:p>
            <a:pPr>
              <a:spcAft>
                <a:spcPts val="1200"/>
              </a:spcAft>
              <a:defRPr sz="1050">
                <a:latin typeface="Segoe UI"/>
              </a:defRPr>
            </a:pPr>
            <a:r>
              <a:rPr b="1">
                <a:solidFill>
                  <a:srgbClr val="252525"/>
                </a:solidFill>
              </a:rPr>
              <a:t>🎯 Empowering Controllers: </a:t>
            </a:r>
            <a:r>
              <a:rPr>
                <a:solidFill>
                  <a:srgbClr val="69625C"/>
                </a:solidFill>
              </a:rPr>
              <a:t>Reduces section controller cognitive overload while preserving human veto and accountability.</a:t>
            </a:r>
          </a:p>
          <a:p>
            <a:br/>
            <a:pPr algn="ctr">
              <a:defRPr sz="1200" b="1">
                <a:solidFill>
                  <a:srgbClr val="D4A317"/>
                </a:solidFill>
                <a:latin typeface="Segoe UI"/>
              </a:defRPr>
            </a:pPr>
            <a:r>
              <a:t>Thank you! We are ready for live demonstration and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